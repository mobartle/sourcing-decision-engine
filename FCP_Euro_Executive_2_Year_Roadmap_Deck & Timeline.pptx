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7" r:id="rId3"/>
    <p:sldId id="275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21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1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69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5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45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01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9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2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0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90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6241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4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57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5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01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65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143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5878" y="3568701"/>
            <a:ext cx="7195207" cy="2387600"/>
          </a:xfrm>
        </p:spPr>
        <p:txBody>
          <a:bodyPr>
            <a:normAutofit fontScale="90000"/>
          </a:bodyPr>
          <a:lstStyle/>
          <a:p>
            <a:r>
              <a:rPr dirty="0"/>
              <a:t>FCP Euro</a:t>
            </a:r>
            <a:br>
              <a:rPr lang="en-US" dirty="0"/>
            </a:br>
            <a:endParaRPr dirty="0"/>
          </a:p>
          <a:p>
            <a:r>
              <a:rPr dirty="0"/>
              <a:t>2-Year Supply Chain Analytics &amp; Optimization Roadmap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9A53B2-BE04-195B-6577-7EE88F9DA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0"/>
            <a:ext cx="3733800" cy="20955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24-Month Roadmap – </a:t>
            </a:r>
            <a:r>
              <a:rPr lang="en-US" dirty="0"/>
              <a:t>Year 1 </a:t>
            </a:r>
            <a:r>
              <a:rPr dirty="0"/>
              <a:t>Progression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5864" y="2255519"/>
            <a:ext cx="1828800" cy="4224793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/>
            </a:pPr>
            <a:r>
              <a:t>Phase 1 (0–3 mo)</a:t>
            </a:r>
          </a:p>
          <a:p>
            <a:pPr algn="l">
              <a:defRPr sz="1100"/>
            </a:pPr>
            <a:r>
              <a:t>Governance Foundation</a:t>
            </a:r>
          </a:p>
          <a:p>
            <a:pPr algn="l">
              <a:defRPr sz="1100"/>
            </a:pPr>
            <a:endParaRPr/>
          </a:p>
          <a:p>
            <a:pPr algn="l">
              <a:defRPr sz="1100"/>
            </a:pPr>
            <a:r>
              <a:t>• Decision Maturity Model</a:t>
            </a:r>
          </a:p>
          <a:p>
            <a:pPr algn="l">
              <a:defRPr sz="1100"/>
            </a:pPr>
            <a:r>
              <a:t>• Establish CoE</a:t>
            </a:r>
          </a:p>
          <a:p>
            <a:pPr algn="l">
              <a:defRPr sz="1100"/>
            </a:pPr>
            <a:r>
              <a:t>• Decision Contracts</a:t>
            </a:r>
          </a:p>
          <a:p>
            <a:pPr algn="l">
              <a:defRPr sz="1100"/>
            </a:pPr>
            <a:r>
              <a:t>• Change Control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95288" y="2255519"/>
            <a:ext cx="1828800" cy="4224793"/>
          </a:xfrm>
          <a:prstGeom prst="roundRect">
            <a:avLst/>
          </a:prstGeom>
          <a:solidFill>
            <a:srgbClr val="006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/>
            </a:pPr>
            <a:r>
              <a:t>Phase 2 (3–6 mo)</a:t>
            </a:r>
          </a:p>
          <a:p>
            <a:pPr algn="l">
              <a:defRPr sz="1100"/>
            </a:pPr>
            <a:r>
              <a:t>Data &amp; Architecture</a:t>
            </a:r>
          </a:p>
          <a:p>
            <a:pPr algn="l">
              <a:defRPr sz="1100"/>
            </a:pPr>
            <a:endParaRPr/>
          </a:p>
          <a:p>
            <a:pPr algn="l">
              <a:defRPr sz="1100"/>
            </a:pPr>
            <a:r>
              <a:t>• System Audit</a:t>
            </a:r>
          </a:p>
          <a:p>
            <a:pPr algn="l">
              <a:defRPr sz="1100"/>
            </a:pPr>
            <a:r>
              <a:t>• Master Data Governance</a:t>
            </a:r>
          </a:p>
          <a:p>
            <a:pPr algn="l">
              <a:defRPr sz="1100"/>
            </a:pPr>
            <a:r>
              <a:t>• Planning Architecture Design</a:t>
            </a:r>
          </a:p>
          <a:p>
            <a:pPr algn="l">
              <a:defRPr sz="1100"/>
            </a:pPr>
            <a:r>
              <a:t>• Trusted Decision Data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24712" y="2255519"/>
            <a:ext cx="1828800" cy="4224793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/>
            </a:pPr>
            <a:r>
              <a:t>Phase 3 (6–9 mo)</a:t>
            </a:r>
          </a:p>
          <a:p>
            <a:pPr algn="l">
              <a:defRPr sz="1100"/>
            </a:pPr>
            <a:r>
              <a:t>Inventory Optimization</a:t>
            </a:r>
          </a:p>
          <a:p>
            <a:pPr algn="l">
              <a:defRPr sz="1100"/>
            </a:pPr>
            <a:endParaRPr/>
          </a:p>
          <a:p>
            <a:pPr algn="l">
              <a:defRPr sz="1100"/>
            </a:pPr>
            <a:r>
              <a:t>• Inventory Health Engine</a:t>
            </a:r>
          </a:p>
          <a:p>
            <a:pPr algn="l">
              <a:defRPr sz="1100"/>
            </a:pPr>
            <a:r>
              <a:t>• Exception Signals</a:t>
            </a:r>
          </a:p>
          <a:p>
            <a:pPr algn="l">
              <a:defRPr sz="1100"/>
            </a:pPr>
            <a:r>
              <a:t>• Coverage vs Cash Optimization</a:t>
            </a:r>
          </a:p>
          <a:p>
            <a:pPr algn="l">
              <a:defRPr sz="1100"/>
            </a:pPr>
            <a:r>
              <a:t>• Weekly Embedding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54136" y="2255519"/>
            <a:ext cx="1828800" cy="4224793"/>
          </a:xfrm>
          <a:prstGeom prst="roundRect">
            <a:avLst/>
          </a:prstGeom>
          <a:solidFill>
            <a:srgbClr val="7B1F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/>
            </a:pPr>
            <a:r>
              <a:t>Phase 4 (9–12 mo)</a:t>
            </a:r>
          </a:p>
          <a:p>
            <a:pPr algn="l">
              <a:defRPr sz="1100"/>
            </a:pPr>
            <a:r>
              <a:t>Dynamic Sourcing Engine</a:t>
            </a:r>
          </a:p>
          <a:p>
            <a:pPr algn="l">
              <a:defRPr sz="1100"/>
            </a:pPr>
            <a:endParaRPr/>
          </a:p>
          <a:p>
            <a:pPr algn="l">
              <a:defRPr sz="1100"/>
            </a:pPr>
            <a:r>
              <a:t>• Landed Cost Modeling</a:t>
            </a:r>
          </a:p>
          <a:p>
            <a:pPr algn="l">
              <a:defRPr sz="1100"/>
            </a:pPr>
            <a:r>
              <a:t>• Supplier Weighting Logic</a:t>
            </a:r>
          </a:p>
          <a:p>
            <a:pPr algn="l">
              <a:defRPr sz="1100"/>
            </a:pPr>
            <a:r>
              <a:t>• ERP PO Integration</a:t>
            </a:r>
          </a:p>
          <a:p>
            <a:pPr algn="l">
              <a:defRPr sz="1100"/>
            </a:pPr>
            <a:r>
              <a:t>• Explainability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38724"/>
            <a:ext cx="8737158" cy="158363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F67E1-7D56-EFC6-9D3F-F32F9E2F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933CE-82A3-E89B-0013-AC877F7FB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24-Month Roadmap – </a:t>
            </a:r>
            <a:r>
              <a:rPr lang="en-US" dirty="0"/>
              <a:t>Year 2 </a:t>
            </a:r>
            <a:r>
              <a:rPr dirty="0"/>
              <a:t>Progression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56E8238-DED8-AFE0-BDA5-B67EC740DD31}"/>
              </a:ext>
            </a:extLst>
          </p:cNvPr>
          <p:cNvSpPr/>
          <p:nvPr/>
        </p:nvSpPr>
        <p:spPr>
          <a:xfrm>
            <a:off x="2165407" y="2255519"/>
            <a:ext cx="1828800" cy="4410323"/>
          </a:xfrm>
          <a:prstGeom prst="roundRect">
            <a:avLst/>
          </a:prstGeom>
          <a:solidFill>
            <a:srgbClr val="FF6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/>
            </a:pPr>
            <a:r>
              <a:t>Phase 5 (12–18 mo)</a:t>
            </a:r>
          </a:p>
          <a:p>
            <a:pPr algn="l">
              <a:defRPr sz="1100"/>
            </a:pPr>
            <a:r>
              <a:t>Multi-Node Optimization</a:t>
            </a:r>
          </a:p>
          <a:p>
            <a:pPr algn="l">
              <a:defRPr sz="1100"/>
            </a:pPr>
            <a:endParaRPr/>
          </a:p>
          <a:p>
            <a:pPr algn="l">
              <a:defRPr sz="1100"/>
            </a:pPr>
            <a:r>
              <a:t>• Allocation Engine</a:t>
            </a:r>
          </a:p>
          <a:p>
            <a:pPr algn="l">
              <a:defRPr sz="1100"/>
            </a:pPr>
            <a:r>
              <a:t>• Cost-to-Serve Modeling</a:t>
            </a:r>
          </a:p>
          <a:p>
            <a:pPr algn="l">
              <a:defRPr sz="1100"/>
            </a:pPr>
            <a:r>
              <a:t>• OMS Routing Integration</a:t>
            </a:r>
          </a:p>
          <a:p>
            <a:pPr algn="l">
              <a:defRPr sz="1100"/>
            </a:pPr>
            <a:r>
              <a:t>• Partial Automation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8D1D495-DFDE-EDBB-D121-2722365F29E6}"/>
              </a:ext>
            </a:extLst>
          </p:cNvPr>
          <p:cNvSpPr/>
          <p:nvPr/>
        </p:nvSpPr>
        <p:spPr>
          <a:xfrm>
            <a:off x="5047888" y="2255519"/>
            <a:ext cx="1828800" cy="4410323"/>
          </a:xfrm>
          <a:prstGeom prst="round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/>
            </a:pPr>
            <a:r>
              <a:t>Phase 6 (18–24 mo)</a:t>
            </a:r>
          </a:p>
          <a:p>
            <a:pPr algn="l">
              <a:defRPr sz="1100"/>
            </a:pPr>
            <a:r>
              <a:t>Executive &amp; Automation Layer</a:t>
            </a:r>
          </a:p>
          <a:p>
            <a:pPr algn="l">
              <a:defRPr sz="1100"/>
            </a:pPr>
            <a:endParaRPr/>
          </a:p>
          <a:p>
            <a:pPr algn="l">
              <a:defRPr sz="1100"/>
            </a:pPr>
            <a:r>
              <a:t>• Scenario Simulation</a:t>
            </a:r>
          </a:p>
          <a:p>
            <a:pPr algn="l">
              <a:defRPr sz="1100"/>
            </a:pPr>
            <a:r>
              <a:t>• Service vs Cash Tradeoffs</a:t>
            </a:r>
          </a:p>
          <a:p>
            <a:pPr algn="l">
              <a:defRPr sz="1100"/>
            </a:pPr>
            <a:r>
              <a:t>• Policy Tuning</a:t>
            </a:r>
          </a:p>
          <a:p>
            <a:pPr algn="l">
              <a:defRPr sz="1100"/>
            </a:pPr>
            <a:r>
              <a:t>• Decision Automation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81A435-339D-B8A9-B6A8-CECC5018029C}"/>
              </a:ext>
            </a:extLst>
          </p:cNvPr>
          <p:cNvSpPr/>
          <p:nvPr/>
        </p:nvSpPr>
        <p:spPr>
          <a:xfrm>
            <a:off x="274320" y="1938724"/>
            <a:ext cx="8737158" cy="158363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52884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Year 1 – Foundation &amp; Core Engines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(0–6 Months): Governance &amp;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3217" y="2232992"/>
            <a:ext cx="3840480" cy="32004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rPr dirty="0"/>
              <a:t>Decision Operating Model</a:t>
            </a:r>
          </a:p>
          <a:p>
            <a:pPr>
              <a:defRPr sz="1400" b="0"/>
            </a:pPr>
            <a:r>
              <a:rPr dirty="0"/>
              <a:t>• </a:t>
            </a:r>
            <a:r>
              <a:rPr lang="en-US" dirty="0"/>
              <a:t>2</a:t>
            </a:r>
            <a:r>
              <a:rPr dirty="0"/>
              <a:t>-Year Maturity Roadmap</a:t>
            </a:r>
          </a:p>
          <a:p>
            <a:pPr>
              <a:defRPr sz="1400" b="0"/>
            </a:pPr>
            <a:r>
              <a:rPr dirty="0"/>
              <a:t>• Establish Analytics &amp; Systems </a:t>
            </a:r>
            <a:r>
              <a:rPr dirty="0" err="1"/>
              <a:t>CoE</a:t>
            </a:r>
            <a:endParaRPr dirty="0"/>
          </a:p>
          <a:p>
            <a:pPr>
              <a:defRPr sz="1400" b="0"/>
            </a:pPr>
            <a:r>
              <a:rPr dirty="0"/>
              <a:t>• Decision Contracts &amp; Governance Framework</a:t>
            </a:r>
          </a:p>
          <a:p>
            <a:pPr>
              <a:defRPr sz="1400" b="0"/>
            </a:pPr>
            <a:r>
              <a:rPr dirty="0"/>
              <a:t>• Change-Control &amp; Adoption Cadence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232992"/>
            <a:ext cx="3840480" cy="32004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Data &amp; Systems Foundation</a:t>
            </a:r>
          </a:p>
          <a:p>
            <a:pPr>
              <a:defRPr sz="1400" b="0"/>
            </a:pPr>
            <a:r>
              <a:t>• Audit Forecast, Inventory, Sourcing, OMS/ERP/MRP/TMS</a:t>
            </a:r>
          </a:p>
          <a:p>
            <a:pPr>
              <a:defRPr sz="1400" b="0"/>
            </a:pPr>
            <a:r>
              <a:t>• Define Future-State Planning Architecture</a:t>
            </a:r>
          </a:p>
          <a:p>
            <a:pPr>
              <a:defRPr sz="1400" b="0"/>
            </a:pPr>
            <a:r>
              <a:t>• Master Data Governance</a:t>
            </a:r>
          </a:p>
          <a:p>
            <a:pPr>
              <a:defRPr sz="1400" b="0"/>
            </a:pPr>
            <a:r>
              <a:t>• Trusted Decision Data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(6–12 Months): Core Optimization Engines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4599" y="2193235"/>
            <a:ext cx="3840480" cy="32004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Inventory Health &amp; Exception Engine</a:t>
            </a:r>
          </a:p>
          <a:p>
            <a:pPr>
              <a:defRPr sz="1400" b="0"/>
            </a:pPr>
            <a:r>
              <a:t>• Predictive Stockout &amp; Excess Modeling</a:t>
            </a:r>
          </a:p>
          <a:p>
            <a:pPr>
              <a:defRPr sz="1400" b="0"/>
            </a:pPr>
            <a:r>
              <a:t>• Coverage vs Cash Optimization</a:t>
            </a:r>
          </a:p>
          <a:p>
            <a:pPr>
              <a:defRPr sz="1400" b="0"/>
            </a:pPr>
            <a:r>
              <a:t>• Exception-Based Signals (Accelerate / Delay / Hold)</a:t>
            </a:r>
          </a:p>
          <a:p>
            <a:pPr>
              <a:defRPr sz="1400" b="0"/>
            </a:pPr>
            <a:r>
              <a:t>• Weekly Operational Embedding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98923" y="2193235"/>
            <a:ext cx="3840480" cy="32004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Dynamic Sourcing Optimization</a:t>
            </a:r>
          </a:p>
          <a:p>
            <a:pPr>
              <a:defRPr sz="1400" b="0"/>
            </a:pPr>
            <a:r>
              <a:t>• Total Landed Cost Modeling</a:t>
            </a:r>
          </a:p>
          <a:p>
            <a:pPr>
              <a:defRPr sz="1400" b="0"/>
            </a:pPr>
            <a:r>
              <a:t>• Supplier Performance Weighting</a:t>
            </a:r>
          </a:p>
          <a:p>
            <a:pPr>
              <a:defRPr sz="1400" b="0"/>
            </a:pPr>
            <a:r>
              <a:t>• Dual-Sourcing Allocation Logic</a:t>
            </a:r>
          </a:p>
          <a:p>
            <a:pPr>
              <a:defRPr sz="1400" b="0"/>
            </a:pPr>
            <a:r>
              <a:t>• ERP-Integrated PO Recommendations</a:t>
            </a:r>
          </a:p>
          <a:p>
            <a:pPr>
              <a:defRPr sz="1400" b="0"/>
            </a:pPr>
            <a:r>
              <a:t>• Explainability + Override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Year 2 – Scale, Network &amp;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(12–18 Months): Multi-Node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4599" y="2097088"/>
            <a:ext cx="3840480" cy="32004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Multi-Node Allocation Engine</a:t>
            </a:r>
          </a:p>
          <a:p>
            <a:pPr>
              <a:defRPr sz="1400" b="0"/>
            </a:pPr>
            <a:r>
              <a:t>• Service vs Cost-to-Serve Optimization</a:t>
            </a:r>
          </a:p>
          <a:p>
            <a:pPr>
              <a:defRPr sz="1400" b="0"/>
            </a:pPr>
            <a:r>
              <a:t>• Inventory Placement Logic Across Nodes</a:t>
            </a:r>
          </a:p>
          <a:p>
            <a:pPr>
              <a:defRPr sz="1400" b="0"/>
            </a:pPr>
            <a:r>
              <a:t>• Capacity &amp; Vendor Constraint Modeling</a:t>
            </a:r>
          </a:p>
          <a:p>
            <a:pPr>
              <a:defRPr sz="1400" b="0"/>
            </a:pPr>
            <a:r>
              <a:t>• OMS Routing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097088"/>
            <a:ext cx="3840480" cy="32004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Operational Readiness</a:t>
            </a:r>
          </a:p>
          <a:p>
            <a:pPr>
              <a:defRPr sz="1400" b="0"/>
            </a:pPr>
            <a:r>
              <a:t>• Exception Automation</a:t>
            </a:r>
          </a:p>
          <a:p>
            <a:pPr>
              <a:defRPr sz="1400" b="0"/>
            </a:pPr>
            <a:r>
              <a:t>• Cross-Functional KPI Dashboards</a:t>
            </a:r>
          </a:p>
          <a:p>
            <a:pPr>
              <a:defRPr sz="1400" b="0"/>
            </a:pPr>
            <a:r>
              <a:t>• Adoption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(18–24 Months): Executive Tradeoff &amp; Automation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97088"/>
            <a:ext cx="3840480" cy="32004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Enterprise Scenario Simulation</a:t>
            </a:r>
          </a:p>
          <a:p>
            <a:pPr>
              <a:defRPr sz="1400" b="0"/>
            </a:pPr>
            <a:r>
              <a:t>• Peak &amp; Growth Modeling</a:t>
            </a:r>
          </a:p>
          <a:p>
            <a:pPr>
              <a:defRPr sz="1400" b="0"/>
            </a:pPr>
            <a:r>
              <a:t>• Supplier Disruption Simulations</a:t>
            </a:r>
          </a:p>
          <a:p>
            <a:pPr>
              <a:defRPr sz="1400" b="0"/>
            </a:pPr>
            <a:r>
              <a:t>• Service vs Cash Sensitivity Analysis</a:t>
            </a:r>
          </a:p>
          <a:p>
            <a:pPr>
              <a:defRPr sz="1400" b="0"/>
            </a:pPr>
            <a:r>
              <a:t>• Executive Decision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097088"/>
            <a:ext cx="3840480" cy="32004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Automation &amp; Continuous Tuning</a:t>
            </a:r>
          </a:p>
          <a:p>
            <a:pPr>
              <a:defRPr sz="1400" b="0"/>
            </a:pPr>
            <a:r>
              <a:t>• Low-Risk Auto-Approval</a:t>
            </a:r>
          </a:p>
          <a:p>
            <a:pPr>
              <a:defRPr sz="1400" b="0"/>
            </a:pPr>
            <a:r>
              <a:t>• Dynamic Weight &amp; Constraint Adjustment</a:t>
            </a:r>
          </a:p>
          <a:p>
            <a:pPr>
              <a:defRPr sz="1400" b="0"/>
            </a:pPr>
            <a:r>
              <a:t>• KPI Feedback Loop</a:t>
            </a:r>
          </a:p>
          <a:p>
            <a:pPr>
              <a:defRPr sz="1400" b="0"/>
            </a:pPr>
            <a:r>
              <a:t>• Institutionalized Decision Infrastructure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24-Month Transformation Timeline – Decision Engine Evolution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4436" y="2011678"/>
            <a:ext cx="2020957" cy="3607243"/>
          </a:xfrm>
          <a:prstGeom prst="roundRect">
            <a:avLst/>
          </a:prstGeom>
          <a:solidFill>
            <a:srgbClr val="00549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/>
            </a:pPr>
            <a:r>
              <a:rPr dirty="0"/>
              <a:t>Months 0–6</a:t>
            </a:r>
          </a:p>
          <a:p>
            <a:pPr algn="l">
              <a:defRPr sz="1400"/>
            </a:pPr>
            <a:r>
              <a:rPr sz="1200" dirty="0"/>
              <a:t>Foundation &amp; Governance</a:t>
            </a:r>
          </a:p>
          <a:p>
            <a:pPr algn="l">
              <a:defRPr sz="1400"/>
            </a:pPr>
            <a:endParaRPr sz="1200" dirty="0"/>
          </a:p>
          <a:p>
            <a:pPr algn="l">
              <a:defRPr sz="1400"/>
            </a:pPr>
            <a:r>
              <a:rPr sz="1200" dirty="0"/>
              <a:t>• Decision Maturity Roadmap</a:t>
            </a:r>
          </a:p>
          <a:p>
            <a:pPr algn="l">
              <a:defRPr sz="1400"/>
            </a:pPr>
            <a:r>
              <a:rPr sz="1200" dirty="0"/>
              <a:t>• Establish Analytics </a:t>
            </a:r>
            <a:r>
              <a:rPr sz="1200" dirty="0" err="1"/>
              <a:t>CoE</a:t>
            </a:r>
            <a:endParaRPr sz="1200" dirty="0"/>
          </a:p>
          <a:p>
            <a:pPr algn="l">
              <a:defRPr sz="1400"/>
            </a:pPr>
            <a:r>
              <a:rPr sz="1200" dirty="0"/>
              <a:t>• Decision Contracts</a:t>
            </a:r>
          </a:p>
          <a:p>
            <a:pPr algn="l">
              <a:defRPr sz="1400"/>
            </a:pPr>
            <a:r>
              <a:rPr sz="1200" dirty="0"/>
              <a:t>• Master Data Governance</a:t>
            </a:r>
          </a:p>
          <a:p>
            <a:pPr algn="l">
              <a:defRPr sz="1400"/>
            </a:pPr>
            <a:r>
              <a:rPr sz="1200" dirty="0"/>
              <a:t>• Trusted Decision Data Layer</a:t>
            </a:r>
            <a:r>
              <a:rPr lang="en-US" sz="1200" dirty="0"/>
              <a:t>.</a:t>
            </a:r>
          </a:p>
          <a:p>
            <a:pPr algn="l">
              <a:defRPr sz="1400"/>
            </a:pPr>
            <a:endParaRPr lang="en-US" sz="1200" dirty="0"/>
          </a:p>
          <a:p>
            <a:pPr algn="l">
              <a:defRPr sz="1400"/>
            </a:pPr>
            <a:endParaRPr lang="en-US" sz="1200" dirty="0"/>
          </a:p>
          <a:p>
            <a:pPr algn="l">
              <a:defRPr sz="1400"/>
            </a:pPr>
            <a:endParaRPr lang="en-US" sz="1200" dirty="0"/>
          </a:p>
          <a:p>
            <a:pPr algn="ctr">
              <a:defRPr sz="900"/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defRPr sz="900"/>
            </a:pPr>
            <a:r>
              <a:rPr lang="en-US" sz="1200" dirty="0">
                <a:solidFill>
                  <a:schemeClr val="tx1"/>
                </a:solidFill>
              </a:rPr>
              <a:t>Impact:</a:t>
            </a:r>
          </a:p>
          <a:p>
            <a:pPr algn="ctr">
              <a:defRPr sz="900"/>
            </a:pPr>
            <a:r>
              <a:rPr lang="en-US" sz="1200" dirty="0">
                <a:solidFill>
                  <a:schemeClr val="tx1"/>
                </a:solidFill>
              </a:rPr>
              <a:t>Risk Stabilization, </a:t>
            </a:r>
          </a:p>
          <a:p>
            <a:pPr algn="ctr">
              <a:defRPr sz="900"/>
            </a:pPr>
            <a:r>
              <a:rPr lang="en-US" sz="1200" dirty="0">
                <a:solidFill>
                  <a:schemeClr val="tx1"/>
                </a:solidFill>
              </a:rPr>
              <a:t>1–2% Inventory Efficiency</a:t>
            </a:r>
          </a:p>
          <a:p>
            <a:pPr algn="l">
              <a:defRPr sz="1400"/>
            </a:pPr>
            <a:endParaRPr sz="1200" dirty="0"/>
          </a:p>
        </p:txBody>
      </p:sp>
      <p:sp>
        <p:nvSpPr>
          <p:cNvPr id="4" name="Rounded Rectangle 3"/>
          <p:cNvSpPr/>
          <p:nvPr/>
        </p:nvSpPr>
        <p:spPr>
          <a:xfrm>
            <a:off x="2600740" y="2011679"/>
            <a:ext cx="2020957" cy="3607242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/>
            </a:pPr>
            <a:r>
              <a:rPr dirty="0"/>
              <a:t>Months 6–12</a:t>
            </a:r>
          </a:p>
          <a:p>
            <a:pPr algn="l">
              <a:defRPr sz="1400"/>
            </a:pPr>
            <a:r>
              <a:rPr sz="1200" dirty="0"/>
              <a:t>Core Optimization Engines</a:t>
            </a:r>
          </a:p>
          <a:p>
            <a:pPr algn="l">
              <a:defRPr sz="1400"/>
            </a:pPr>
            <a:endParaRPr sz="1200" dirty="0"/>
          </a:p>
          <a:p>
            <a:pPr algn="l">
              <a:defRPr sz="1400"/>
            </a:pPr>
            <a:r>
              <a:rPr sz="1200" dirty="0"/>
              <a:t>• Inventory Health Engine</a:t>
            </a:r>
          </a:p>
          <a:p>
            <a:pPr algn="l">
              <a:defRPr sz="1400"/>
            </a:pPr>
            <a:r>
              <a:rPr sz="1200" dirty="0"/>
              <a:t>• Dynamic Sourcing Optimization</a:t>
            </a:r>
          </a:p>
          <a:p>
            <a:pPr algn="l">
              <a:defRPr sz="1400"/>
            </a:pPr>
            <a:r>
              <a:rPr sz="1200" dirty="0"/>
              <a:t>• ERP-Integrated Execution</a:t>
            </a:r>
          </a:p>
          <a:p>
            <a:pPr algn="l">
              <a:defRPr sz="1400"/>
            </a:pPr>
            <a:r>
              <a:rPr sz="1200" dirty="0"/>
              <a:t>• Explainability &amp; Overrides</a:t>
            </a:r>
          </a:p>
          <a:p>
            <a:pPr algn="l">
              <a:defRPr sz="1400"/>
            </a:pPr>
            <a:r>
              <a:rPr sz="1200" dirty="0"/>
              <a:t>• Forecast Signal Enhancements</a:t>
            </a:r>
            <a:r>
              <a:rPr lang="en-US" sz="1200" dirty="0"/>
              <a:t>.</a:t>
            </a:r>
          </a:p>
          <a:p>
            <a:pPr algn="l">
              <a:defRPr sz="1400"/>
            </a:pPr>
            <a:endParaRPr lang="en-US" sz="1200" dirty="0"/>
          </a:p>
          <a:p>
            <a:pPr algn="ctr">
              <a:defRPr sz="900"/>
            </a:pPr>
            <a:endParaRPr lang="en-US" sz="1200" dirty="0"/>
          </a:p>
          <a:p>
            <a:pPr algn="l">
              <a:defRPr sz="1400"/>
            </a:pPr>
            <a:endParaRPr lang="en-US" sz="1200" dirty="0">
              <a:solidFill>
                <a:schemeClr val="tx1"/>
              </a:solidFill>
            </a:endParaRPr>
          </a:p>
          <a:p>
            <a:pPr algn="ctr">
              <a:defRPr sz="900"/>
            </a:pPr>
            <a:r>
              <a:rPr lang="en-US" sz="1200" dirty="0">
                <a:solidFill>
                  <a:schemeClr val="tx1"/>
                </a:solidFill>
              </a:rPr>
              <a:t>Impact:</a:t>
            </a:r>
          </a:p>
          <a:p>
            <a:pPr algn="ctr">
              <a:defRPr sz="900"/>
            </a:pPr>
            <a:r>
              <a:rPr lang="en-US" sz="1200" dirty="0">
                <a:solidFill>
                  <a:schemeClr val="tx1"/>
                </a:solidFill>
              </a:rPr>
              <a:t>3–5% WC Reduction,</a:t>
            </a:r>
          </a:p>
          <a:p>
            <a:pPr algn="ctr">
              <a:defRPr sz="900"/>
            </a:pPr>
            <a:r>
              <a:rPr lang="en-US" sz="1200" dirty="0">
                <a:solidFill>
                  <a:schemeClr val="tx1"/>
                </a:solidFill>
              </a:rPr>
              <a:t>2–4% Cost Improvement</a:t>
            </a:r>
          </a:p>
          <a:p>
            <a:pPr algn="l">
              <a:defRPr sz="1400"/>
            </a:pPr>
            <a:endParaRPr sz="1200" dirty="0"/>
          </a:p>
        </p:txBody>
      </p:sp>
      <p:sp>
        <p:nvSpPr>
          <p:cNvPr id="5" name="Rounded Rectangle 4"/>
          <p:cNvSpPr/>
          <p:nvPr/>
        </p:nvSpPr>
        <p:spPr>
          <a:xfrm>
            <a:off x="4814531" y="2011679"/>
            <a:ext cx="2020957" cy="3607242"/>
          </a:xfrm>
          <a:prstGeom prst="roundRect">
            <a:avLst/>
          </a:prstGeom>
          <a:solidFill>
            <a:srgbClr val="7B1F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/>
            </a:pPr>
            <a:r>
              <a:rPr dirty="0"/>
              <a:t>Months 12–18</a:t>
            </a:r>
          </a:p>
          <a:p>
            <a:pPr algn="l">
              <a:defRPr sz="1400"/>
            </a:pPr>
            <a:r>
              <a:rPr sz="1200" dirty="0"/>
              <a:t>Scale &amp; Multi-Node</a:t>
            </a:r>
          </a:p>
          <a:p>
            <a:pPr algn="l">
              <a:defRPr sz="1400"/>
            </a:pPr>
            <a:endParaRPr sz="1200" dirty="0"/>
          </a:p>
          <a:p>
            <a:pPr algn="l">
              <a:defRPr sz="1400"/>
            </a:pPr>
            <a:r>
              <a:rPr sz="1200" dirty="0"/>
              <a:t>• Multi-Node Allocation Engine</a:t>
            </a:r>
          </a:p>
          <a:p>
            <a:pPr algn="l">
              <a:defRPr sz="1400"/>
            </a:pPr>
            <a:r>
              <a:rPr sz="1200" dirty="0"/>
              <a:t>• OMS Routing Integration</a:t>
            </a:r>
          </a:p>
          <a:p>
            <a:pPr algn="l">
              <a:defRPr sz="1400"/>
            </a:pPr>
            <a:r>
              <a:rPr sz="1200" dirty="0"/>
              <a:t>• Cost-to-Serve Optimization</a:t>
            </a:r>
          </a:p>
          <a:p>
            <a:pPr algn="l">
              <a:defRPr sz="1400"/>
            </a:pPr>
            <a:r>
              <a:rPr sz="1200" dirty="0"/>
              <a:t>• Exception Automation</a:t>
            </a:r>
          </a:p>
          <a:p>
            <a:pPr algn="l">
              <a:defRPr sz="1400"/>
            </a:pPr>
            <a:r>
              <a:rPr sz="1200" dirty="0"/>
              <a:t>• KPI Adoption Tracking</a:t>
            </a:r>
            <a:endParaRPr lang="en-US" sz="1200" dirty="0"/>
          </a:p>
          <a:p>
            <a:pPr algn="l">
              <a:defRPr sz="1400"/>
            </a:pPr>
            <a:endParaRPr lang="en-US" sz="1200" dirty="0"/>
          </a:p>
          <a:p>
            <a:pPr algn="l">
              <a:defRPr sz="1400"/>
            </a:pPr>
            <a:endParaRPr lang="en-US" sz="1200" dirty="0"/>
          </a:p>
          <a:p>
            <a:pPr algn="l">
              <a:defRPr sz="1400"/>
            </a:pPr>
            <a:endParaRPr lang="en-US" sz="1200" dirty="0"/>
          </a:p>
          <a:p>
            <a:pPr algn="ctr">
              <a:defRPr sz="900"/>
            </a:pPr>
            <a:endParaRPr lang="en-US" sz="1200" dirty="0"/>
          </a:p>
          <a:p>
            <a:pPr algn="ctr">
              <a:defRPr sz="900"/>
            </a:pPr>
            <a:r>
              <a:rPr lang="en-US" sz="1200" dirty="0">
                <a:solidFill>
                  <a:schemeClr val="tx1"/>
                </a:solidFill>
              </a:rPr>
              <a:t>Impact:</a:t>
            </a:r>
          </a:p>
          <a:p>
            <a:pPr algn="ctr">
              <a:defRPr sz="900"/>
            </a:pPr>
            <a:r>
              <a:rPr lang="en-US" sz="1200" dirty="0">
                <a:solidFill>
                  <a:schemeClr val="tx1"/>
                </a:solidFill>
              </a:rPr>
              <a:t>5–8% Cost-to-Serve</a:t>
            </a:r>
          </a:p>
          <a:p>
            <a:pPr algn="ctr">
              <a:defRPr sz="900"/>
            </a:pPr>
            <a:endParaRPr lang="en-US" sz="1200" dirty="0">
              <a:solidFill>
                <a:schemeClr val="bg1"/>
              </a:solidFill>
            </a:endParaRPr>
          </a:p>
          <a:p>
            <a:pPr algn="l">
              <a:defRPr sz="1400"/>
            </a:pPr>
            <a:endParaRPr sz="1200" dirty="0"/>
          </a:p>
        </p:txBody>
      </p:sp>
      <p:sp>
        <p:nvSpPr>
          <p:cNvPr id="6" name="Rounded Rectangle 5"/>
          <p:cNvSpPr/>
          <p:nvPr/>
        </p:nvSpPr>
        <p:spPr>
          <a:xfrm>
            <a:off x="7028322" y="2011680"/>
            <a:ext cx="2020957" cy="3607241"/>
          </a:xfrm>
          <a:prstGeom prst="roundRect">
            <a:avLst/>
          </a:prstGeom>
          <a:solidFill>
            <a:srgbClr val="FF6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/>
            </a:pPr>
            <a:r>
              <a:rPr dirty="0"/>
              <a:t>Months 18–24</a:t>
            </a:r>
          </a:p>
          <a:p>
            <a:pPr algn="l">
              <a:defRPr sz="1400"/>
            </a:pPr>
            <a:r>
              <a:rPr sz="1200" dirty="0"/>
              <a:t>Executive Tradeoff &amp; Automation</a:t>
            </a:r>
          </a:p>
          <a:p>
            <a:pPr algn="l">
              <a:defRPr sz="1400"/>
            </a:pPr>
            <a:endParaRPr sz="1200" dirty="0"/>
          </a:p>
          <a:p>
            <a:pPr algn="l">
              <a:defRPr sz="1400"/>
            </a:pPr>
            <a:r>
              <a:rPr sz="1200" dirty="0"/>
              <a:t>• Enterprise Scenario Simulation</a:t>
            </a:r>
          </a:p>
          <a:p>
            <a:pPr algn="l">
              <a:defRPr sz="1400"/>
            </a:pPr>
            <a:r>
              <a:rPr sz="1200" dirty="0"/>
              <a:t>• Service vs Cash Sensitivity</a:t>
            </a:r>
          </a:p>
          <a:p>
            <a:pPr algn="l">
              <a:defRPr sz="1400"/>
            </a:pPr>
            <a:r>
              <a:rPr sz="1200" dirty="0"/>
              <a:t>• Policy Tuning &amp; Weight Adjustment</a:t>
            </a:r>
          </a:p>
          <a:p>
            <a:pPr algn="l">
              <a:defRPr sz="1400"/>
            </a:pPr>
            <a:r>
              <a:rPr sz="1200" dirty="0"/>
              <a:t>• Low-Risk Auto-Approval</a:t>
            </a:r>
          </a:p>
          <a:p>
            <a:pPr algn="l">
              <a:defRPr sz="1400"/>
            </a:pPr>
            <a:r>
              <a:rPr sz="1200" dirty="0"/>
              <a:t>• Continuous Improvement Loop</a:t>
            </a:r>
            <a:r>
              <a:rPr lang="en-US" sz="1200" dirty="0"/>
              <a:t>.</a:t>
            </a:r>
          </a:p>
          <a:p>
            <a:pPr algn="l">
              <a:defRPr sz="1400"/>
            </a:pPr>
            <a:endParaRPr lang="en-US" sz="1200" dirty="0"/>
          </a:p>
          <a:p>
            <a:pPr algn="ctr">
              <a:defRPr sz="900"/>
            </a:pPr>
            <a:r>
              <a:rPr lang="en-US" sz="1200" dirty="0">
                <a:solidFill>
                  <a:schemeClr val="tx1"/>
                </a:solidFill>
              </a:rPr>
              <a:t>Impact:</a:t>
            </a:r>
          </a:p>
          <a:p>
            <a:pPr algn="ctr">
              <a:defRPr sz="900"/>
            </a:pPr>
            <a:r>
              <a:rPr lang="en-US" sz="1200" dirty="0">
                <a:solidFill>
                  <a:schemeClr val="tx1"/>
                </a:solidFill>
              </a:rPr>
              <a:t>1–3% Margin Lift</a:t>
            </a:r>
          </a:p>
          <a:p>
            <a:pPr algn="l">
              <a:defRPr sz="1400"/>
            </a:pPr>
            <a:endParaRPr lang="en-US" sz="1200" dirty="0">
              <a:solidFill>
                <a:schemeClr val="tx1"/>
              </a:solidFill>
            </a:endParaRPr>
          </a:p>
          <a:p>
            <a:pPr algn="ctr">
              <a:defRPr sz="900"/>
            </a:pPr>
            <a:endParaRPr sz="1200" dirty="0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8514522" cy="13716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24-Month Horizontal Roadmap with Financial Impact</a:t>
            </a:r>
          </a:p>
        </p:txBody>
      </p:sp>
      <p:sp>
        <p:nvSpPr>
          <p:cNvPr id="3" name="Right Arrow 2"/>
          <p:cNvSpPr/>
          <p:nvPr/>
        </p:nvSpPr>
        <p:spPr>
          <a:xfrm>
            <a:off x="274320" y="1921564"/>
            <a:ext cx="1920240" cy="2286000"/>
          </a:xfrm>
          <a:prstGeom prst="roundRect">
            <a:avLst/>
          </a:prstGeom>
          <a:solidFill>
            <a:srgbClr val="1565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/>
            </a:pPr>
            <a:r>
              <a:rPr dirty="0"/>
              <a:t>Phase 1 (0–3 </a:t>
            </a:r>
            <a:r>
              <a:rPr dirty="0" err="1"/>
              <a:t>mo</a:t>
            </a:r>
            <a:r>
              <a:rPr dirty="0"/>
              <a:t>)</a:t>
            </a:r>
          </a:p>
          <a:p>
            <a:pPr algn="l">
              <a:defRPr sz="1100"/>
            </a:pPr>
            <a:r>
              <a:rPr dirty="0"/>
              <a:t>Governance Foundation</a:t>
            </a:r>
          </a:p>
          <a:p>
            <a:pPr algn="l">
              <a:defRPr sz="1100"/>
            </a:pPr>
            <a:endParaRPr dirty="0"/>
          </a:p>
          <a:p>
            <a:pPr algn="l">
              <a:defRPr sz="1100"/>
            </a:pPr>
            <a:r>
              <a:rPr dirty="0"/>
              <a:t>Financial Impact:</a:t>
            </a:r>
          </a:p>
          <a:p>
            <a:pPr algn="l">
              <a:defRPr sz="1100"/>
            </a:pPr>
            <a:r>
              <a:rPr dirty="0"/>
              <a:t>• Risk Mitigation</a:t>
            </a:r>
          </a:p>
          <a:p>
            <a:pPr algn="l">
              <a:defRPr sz="1100"/>
            </a:pPr>
            <a:r>
              <a:rPr dirty="0"/>
              <a:t>• Decision Stability</a:t>
            </a:r>
          </a:p>
          <a:p>
            <a:pPr algn="l">
              <a:defRPr sz="1100"/>
            </a:pPr>
            <a:r>
              <a:rPr dirty="0"/>
              <a:t>• Foundation for $ Impact</a:t>
            </a:r>
          </a:p>
          <a:p>
            <a:pPr algn="l">
              <a:defRPr sz="1100"/>
            </a:pPr>
            <a:endParaRPr dirty="0"/>
          </a:p>
          <a:p>
            <a:pPr algn="l">
              <a:defRPr sz="1100"/>
            </a:pPr>
            <a:r>
              <a:rPr dirty="0"/>
              <a:t>Est. Impact: Baseline Enablement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86000" y="1921564"/>
            <a:ext cx="1920240" cy="2286000"/>
          </a:xfrm>
          <a:prstGeom prst="roundRect">
            <a:avLst/>
          </a:prstGeom>
          <a:solidFill>
            <a:srgbClr val="0079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/>
            </a:pPr>
            <a:r>
              <a:rPr dirty="0"/>
              <a:t>Phase 2 (3–6 </a:t>
            </a:r>
            <a:r>
              <a:rPr dirty="0" err="1"/>
              <a:t>mo</a:t>
            </a:r>
            <a:r>
              <a:rPr dirty="0"/>
              <a:t>)</a:t>
            </a:r>
          </a:p>
          <a:p>
            <a:pPr algn="l">
              <a:defRPr sz="1100"/>
            </a:pPr>
            <a:r>
              <a:rPr dirty="0"/>
              <a:t>Data &amp; Architecture</a:t>
            </a:r>
          </a:p>
          <a:p>
            <a:pPr algn="l">
              <a:defRPr sz="1100"/>
            </a:pPr>
            <a:endParaRPr dirty="0"/>
          </a:p>
          <a:p>
            <a:pPr algn="l">
              <a:defRPr sz="1100"/>
            </a:pPr>
            <a:r>
              <a:rPr dirty="0"/>
              <a:t>Financial Impact:</a:t>
            </a:r>
          </a:p>
          <a:p>
            <a:pPr algn="l">
              <a:defRPr sz="1100"/>
            </a:pPr>
            <a:r>
              <a:rPr dirty="0"/>
              <a:t>• Data Accuracy Improvement</a:t>
            </a:r>
          </a:p>
          <a:p>
            <a:pPr algn="l">
              <a:defRPr sz="1100"/>
            </a:pPr>
            <a:r>
              <a:rPr dirty="0"/>
              <a:t>• Reduced Decision Latency</a:t>
            </a:r>
          </a:p>
          <a:p>
            <a:pPr algn="l">
              <a:defRPr sz="1100"/>
            </a:pPr>
            <a:endParaRPr dirty="0"/>
          </a:p>
          <a:p>
            <a:pPr algn="l">
              <a:defRPr sz="1100"/>
            </a:pPr>
            <a:r>
              <a:rPr dirty="0"/>
              <a:t>Est. Impact: 1–2% Inventory Efficiency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297680" y="1921564"/>
            <a:ext cx="1920240" cy="2286000"/>
          </a:xfrm>
          <a:prstGeom prst="roundRect">
            <a:avLst/>
          </a:prstGeom>
          <a:solidFill>
            <a:srgbClr val="388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100" b="1"/>
            </a:pPr>
            <a:r>
              <a:rPr dirty="0"/>
              <a:t>Phase 3 (6–9 </a:t>
            </a:r>
            <a:r>
              <a:rPr dirty="0" err="1"/>
              <a:t>mo</a:t>
            </a:r>
            <a:r>
              <a:rPr dirty="0"/>
              <a:t>)</a:t>
            </a:r>
          </a:p>
          <a:p>
            <a:pPr algn="l">
              <a:defRPr sz="1100"/>
            </a:pPr>
            <a:r>
              <a:rPr dirty="0"/>
              <a:t>Inventory Optimization</a:t>
            </a:r>
          </a:p>
          <a:p>
            <a:pPr algn="l">
              <a:defRPr sz="1100"/>
            </a:pPr>
            <a:endParaRPr dirty="0"/>
          </a:p>
          <a:p>
            <a:pPr algn="l">
              <a:defRPr sz="1100"/>
            </a:pPr>
            <a:r>
              <a:rPr dirty="0"/>
              <a:t>Financial Impact:</a:t>
            </a:r>
          </a:p>
          <a:p>
            <a:pPr algn="l">
              <a:defRPr sz="1100"/>
            </a:pPr>
            <a:r>
              <a:rPr dirty="0"/>
              <a:t>• 3–5% Working Capital Reduction</a:t>
            </a:r>
          </a:p>
          <a:p>
            <a:pPr algn="l">
              <a:defRPr sz="1100"/>
            </a:pPr>
            <a:r>
              <a:rPr dirty="0"/>
              <a:t>• 1–2% Service Level Lift</a:t>
            </a:r>
          </a:p>
          <a:p>
            <a:pPr algn="l">
              <a:defRPr sz="1100"/>
            </a:pPr>
            <a:r>
              <a:rPr dirty="0"/>
              <a:t>• Reduced Expedites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309360" y="1921564"/>
            <a:ext cx="1920240" cy="2286000"/>
          </a:xfrm>
          <a:prstGeom prst="roundRect">
            <a:avLst/>
          </a:prstGeom>
          <a:solidFill>
            <a:srgbClr val="8E2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/>
            </a:pPr>
            <a:r>
              <a:t>Phase 4 (9–12 mo)</a:t>
            </a:r>
          </a:p>
          <a:p>
            <a:pPr algn="l">
              <a:defRPr sz="1100"/>
            </a:pPr>
            <a:r>
              <a:t>Dynamic Sourcing</a:t>
            </a:r>
          </a:p>
          <a:p>
            <a:pPr algn="l">
              <a:defRPr sz="1100"/>
            </a:pPr>
            <a:endParaRPr/>
          </a:p>
          <a:p>
            <a:pPr algn="l">
              <a:defRPr sz="1100"/>
            </a:pPr>
            <a:r>
              <a:t>Financial Impact:</a:t>
            </a:r>
          </a:p>
          <a:p>
            <a:pPr algn="l">
              <a:defRPr sz="1100"/>
            </a:pPr>
            <a:r>
              <a:t>• 2–4% Landed Cost Improvement</a:t>
            </a:r>
          </a:p>
          <a:p>
            <a:pPr algn="l">
              <a:defRPr sz="1100"/>
            </a:pPr>
            <a:r>
              <a:t>• Supplier Risk Diversification</a:t>
            </a:r>
          </a:p>
          <a:p>
            <a:pPr algn="l">
              <a:defRPr sz="1100"/>
            </a:pPr>
            <a:r>
              <a:t>• Reduced Cash Volatility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86000" y="4359964"/>
            <a:ext cx="1920240" cy="2286000"/>
          </a:xfrm>
          <a:prstGeom prst="roundRect">
            <a:avLst/>
          </a:prstGeom>
          <a:solidFill>
            <a:srgbClr val="FF8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/>
            </a:pPr>
            <a:r>
              <a:rPr dirty="0"/>
              <a:t>Phase 5 (12–18 </a:t>
            </a:r>
            <a:r>
              <a:rPr dirty="0" err="1"/>
              <a:t>mo</a:t>
            </a:r>
            <a:r>
              <a:rPr dirty="0"/>
              <a:t>)</a:t>
            </a:r>
          </a:p>
          <a:p>
            <a:pPr algn="l">
              <a:defRPr sz="1100"/>
            </a:pPr>
            <a:r>
              <a:rPr dirty="0"/>
              <a:t>Multi-Node Optimization</a:t>
            </a:r>
          </a:p>
          <a:p>
            <a:pPr algn="l">
              <a:defRPr sz="1100"/>
            </a:pPr>
            <a:endParaRPr dirty="0"/>
          </a:p>
          <a:p>
            <a:pPr algn="l">
              <a:defRPr sz="1100"/>
            </a:pPr>
            <a:r>
              <a:rPr dirty="0"/>
              <a:t>Financial Impact:</a:t>
            </a:r>
          </a:p>
          <a:p>
            <a:pPr algn="l">
              <a:defRPr sz="1100"/>
            </a:pPr>
            <a:r>
              <a:rPr dirty="0"/>
              <a:t>• 5–8% Cost-to-Serve Reduction</a:t>
            </a:r>
          </a:p>
          <a:p>
            <a:pPr algn="l">
              <a:defRPr sz="1100"/>
            </a:pPr>
            <a:r>
              <a:rPr dirty="0"/>
              <a:t>• Optimized Inventory Placement</a:t>
            </a:r>
          </a:p>
          <a:p>
            <a:pPr algn="l">
              <a:defRPr sz="1100"/>
            </a:pPr>
            <a:r>
              <a:rPr dirty="0"/>
              <a:t>• Fulfillment Cost Control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89120" y="4359964"/>
            <a:ext cx="1920240" cy="228600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/>
            </a:pPr>
            <a:r>
              <a:t>Phase 6 (18–24 mo)</a:t>
            </a:r>
          </a:p>
          <a:p>
            <a:pPr algn="l">
              <a:defRPr sz="1100"/>
            </a:pPr>
            <a:r>
              <a:t>Executive &amp; Automation</a:t>
            </a:r>
          </a:p>
          <a:p>
            <a:pPr algn="l">
              <a:defRPr sz="1100"/>
            </a:pPr>
            <a:endParaRPr/>
          </a:p>
          <a:p>
            <a:pPr algn="l">
              <a:defRPr sz="1100"/>
            </a:pPr>
            <a:r>
              <a:t>Financial Impact:</a:t>
            </a:r>
          </a:p>
          <a:p>
            <a:pPr algn="l">
              <a:defRPr sz="1100"/>
            </a:pPr>
            <a:r>
              <a:t>• 1–3% Additional Margin Lift</a:t>
            </a:r>
          </a:p>
          <a:p>
            <a:pPr algn="l">
              <a:defRPr sz="1100"/>
            </a:pPr>
            <a:r>
              <a:t>• Automation Productivity Gains</a:t>
            </a:r>
          </a:p>
          <a:p>
            <a:pPr algn="l">
              <a:defRPr sz="1100"/>
            </a:pPr>
            <a:r>
              <a:t>• Sustained Optimization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28</TotalTime>
  <Words>707</Words>
  <Application>Microsoft Office PowerPoint</Application>
  <PresentationFormat>On-screen Show (4:3)</PresentationFormat>
  <Paragraphs>193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FCP Euro  2-Year Supply Chain Analytics &amp; Optimization Roadmap</vt:lpstr>
      <vt:lpstr>24-Month Roadmap – Year 1 Progression</vt:lpstr>
      <vt:lpstr>24-Month Roadmap – Year 2 Progression</vt:lpstr>
      <vt:lpstr>PowerPoint Presentation</vt:lpstr>
      <vt:lpstr>Phase 1 (0–6 Months): Governance &amp; Architecture</vt:lpstr>
      <vt:lpstr>Phase 2 (6–12 Months): Core Optimization Engines</vt:lpstr>
      <vt:lpstr>PowerPoint Presentation</vt:lpstr>
      <vt:lpstr>Phase 3 (12–18 Months): Multi-Node Optimization</vt:lpstr>
      <vt:lpstr>Phase 4 (18–24 Months): Executive Tradeoff &amp; Automation</vt:lpstr>
      <vt:lpstr>24-Month Transformation Timeline – Decision Engine Evolution</vt:lpstr>
      <vt:lpstr>24-Month Horizontal Roadmap with Financial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Matthew Bartley</cp:lastModifiedBy>
  <cp:revision>3</cp:revision>
  <dcterms:created xsi:type="dcterms:W3CDTF">2013-01-27T09:14:16Z</dcterms:created>
  <dcterms:modified xsi:type="dcterms:W3CDTF">2026-02-25T13:40:31Z</dcterms:modified>
  <cp:category/>
</cp:coreProperties>
</file>